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7" r:id="rId4"/>
    <p:sldId id="268" r:id="rId5"/>
    <p:sldId id="262" r:id="rId6"/>
    <p:sldId id="270" r:id="rId7"/>
    <p:sldId id="269" r:id="rId8"/>
    <p:sldId id="261" r:id="rId9"/>
    <p:sldId id="266" r:id="rId10"/>
    <p:sldId id="25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326A7-B19D-4A37-A6EF-7FE99F986C03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F070A-3D26-4CA4-9C4E-D01E3D6E0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1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F070A-3D26-4CA4-9C4E-D01E3D6E03B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063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D9B01-96D8-5564-7FBA-EBECACD42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473A79-3D31-7B07-C747-BCA58C9B2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A5735A-ADBE-36DC-430B-D05A5088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3A8DF-C9B9-7DC7-FA05-A4AE43E0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F1CA66-FE6D-5C31-1ECC-ABA4C36F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28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B5537-F446-0D02-076B-A1E5B610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DF586-37FE-36BA-E1FC-88B1468B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D6187-3308-573A-3F98-1960E1E5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CD4BDB-A08D-4676-57AC-D1ABF4C9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31103B-6F3E-9256-497A-A7C72778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65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A3750-DAFD-7946-C034-9DA16875F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1E8C9B-5FB3-6C02-1ADE-DD440DAB3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4C49C1-1F03-1149-B666-82FECC15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09D2DC-6634-C6BA-3F61-68DDC437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371E23-770D-CDE9-FB9C-700A39AB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35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E7EF0-EF9C-8922-47B4-83ACE546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1748CE-126A-8F5C-B577-3D8CA1999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479719-5E77-C717-EBBA-A7A91494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C87862-1588-4513-2EF1-1BDDEA11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3F2245-39AD-5D9C-D71B-5D0CC87B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390929-D436-4A64-AEE6-F2DFA023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6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C972B-6C53-0D0C-821B-CA09A495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709B7D-9548-D397-EE5C-849F5239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CDEC87-5C0F-938A-0C92-D86ABF6CF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1C514-18C9-D955-1F21-10816D506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1C3602-F034-571D-3667-598F678A6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A6B61A-44BE-EC9A-B76E-FD15B867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714BB0-5462-BB78-C66A-2AC73B48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837597-CB1B-560F-312B-402EED3E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00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8CCC7-DF01-CB74-245D-AA0FF987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CDCA52-8F68-10E9-3671-F5D0E8BF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597DDF8-E92B-EF3E-D1F7-8C646967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DEB241-C3F6-1BF6-1790-85E9A2E4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57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4FD904-DA85-C005-1A60-9AF59721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2F127B9-C6D3-6B21-23A8-C7509D7C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F5A73A-4135-D1B0-2FD5-D4E3BBC9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86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176C1-7FDB-BF91-B723-1363F483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2AAF54-C717-AF25-2B25-2EF39983E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B06CC8-ECBD-299D-3460-B74D31066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E8D524-704D-5300-EFE2-A3C2754F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D9F049-E616-DB42-FCF8-DA196EBB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13D14E-7EB6-2137-677D-8DB4AA12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52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C7FC3-A656-6A80-37A0-966363FA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F88F24-88C9-F6D0-E110-003FBA252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830E7F-C781-F9E7-ED8A-9C1A79DF4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FF1ABD-1B22-0E0A-5AA2-251881DE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A90C8D-553B-2E90-B3F9-3433760E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66C6F8-7EB0-F68E-B332-218D9A97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50279-694F-21C3-5264-94ABBFC0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1E480-C96E-0673-B361-B0FD87CB1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E8580-EEF3-F603-D67D-2FAF5B169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302EDE-7BCE-9B42-1CF9-E5ECE8EC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8B1302-4A34-300A-E9DB-E75D30B7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37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A3D1C6-22ED-FA7F-F8B9-5757EF924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378138-0BAC-EF65-D87E-D6319D0D1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DC2AF-687A-88B0-EFD6-B2B49197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9B628-2203-723E-F62D-57252DF6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10FD17-8F07-B7FA-EE25-342779A7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59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8883A-1854-5218-E390-6A38E713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D6A256-E802-57A3-830E-ED69C73B9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403A68-1426-29A2-4B52-CE972E19E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E8FA-2A91-42B7-A1EA-D369FF225EFA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5BC5AC-4ECF-AF33-B1A2-F4308C5E4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2958D1-8FDC-F062-38FE-C430927C8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CDC7-F93A-4892-9908-7D664B988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7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9600A-8A52-AAB4-E924-B2310DE0F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1457"/>
            <a:ext cx="9144000" cy="1237543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latin typeface="Arial" panose="020B0604020202020204" pitchFamily="34" charset="0"/>
                <a:cs typeface="Arial" panose="020B0604020202020204" pitchFamily="34" charset="0"/>
              </a:rPr>
              <a:t>Корпоративная платформа управления документами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F05C0F08-534B-B6F6-715C-47BF34A7A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61CAAA-E2F2-569F-C772-97FD63C22001}"/>
              </a:ext>
            </a:extLst>
          </p:cNvPr>
          <p:cNvSpPr txBox="1"/>
          <p:nvPr/>
        </p:nvSpPr>
        <p:spPr>
          <a:xfrm>
            <a:off x="3338466" y="342900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Цифровизация согласования и совместной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55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7AEAE-CFD5-772C-CEB2-B0025F14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409"/>
            <a:ext cx="7110743" cy="1122451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Предпосылки и 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337B6-989E-F2ED-F227-365F92413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предприятии </a:t>
            </a:r>
            <a:r>
              <a:rPr lang="ru-RU" b="1" dirty="0"/>
              <a:t>нет единой среды</a:t>
            </a:r>
            <a:r>
              <a:rPr lang="ru-RU" dirty="0"/>
              <a:t> работы с документами.</a:t>
            </a:r>
            <a:br>
              <a:rPr lang="ru-RU" dirty="0"/>
            </a:br>
            <a:r>
              <a:rPr lang="ru-RU" dirty="0"/>
              <a:t>Документы (регламенты, договоры, служебные записки) теряются, плодятся версии, правки «разъезжаются» у разных сотрудников.</a:t>
            </a:r>
            <a:br>
              <a:rPr lang="ru-RU" dirty="0"/>
            </a:br>
            <a:r>
              <a:rPr lang="ru-RU" b="1" dirty="0"/>
              <a:t>Результат</a:t>
            </a:r>
            <a:r>
              <a:rPr lang="ru-RU" dirty="0"/>
              <a:t> — потеря актуальной версии, хаос согласований, низкая прозрачность.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78F2C5A0-D759-3A49-DA36-5DF20B861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41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6B48-851F-BBB5-237F-28184CD1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43AF9-3708-5AC0-2A95-7A417B9E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4240794" cy="66278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D30C09-0D2D-7C30-212F-1EBFCDA93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Разработать продукт, способный оптимизировать время и силы на управление документами. Сделать процесс согласования документов быстрее и прозрачнее</a:t>
            </a:r>
          </a:p>
          <a:p>
            <a:endParaRPr lang="ru-RU" dirty="0"/>
          </a:p>
        </p:txBody>
      </p:sp>
      <p:pic>
        <p:nvPicPr>
          <p:cNvPr id="4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7A768A9F-6F04-2F01-3FA2-6CCAAEF5D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2BEDF-A419-8F5A-A0C1-1AAC6E66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1073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UX/UI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EBB9315-B4B9-F438-A40F-32C9E07EC5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1018" y="3276600"/>
            <a:ext cx="3197382" cy="319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616781-3B00-6C67-A25C-45978B4BD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22" y="1690688"/>
            <a:ext cx="8468962" cy="4280102"/>
          </a:xfrm>
          <a:prstGeom prst="rect">
            <a:avLst/>
          </a:prstGeom>
        </p:spPr>
      </p:pic>
      <p:pic>
        <p:nvPicPr>
          <p:cNvPr id="7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AC40857E-4139-1276-55C4-A21538765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16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2F7DF-6255-7B7D-28AB-0FAD958D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A4F923-D7C4-F2DE-DB00-A7EC2FD87140}"/>
              </a:ext>
            </a:extLst>
          </p:cNvPr>
          <p:cNvSpPr txBox="1">
            <a:spLocks/>
          </p:cNvSpPr>
          <p:nvPr/>
        </p:nvSpPr>
        <p:spPr>
          <a:xfrm>
            <a:off x="551542" y="348075"/>
            <a:ext cx="5740615" cy="78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Архитектура проекта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83284F9A-5A2F-5C58-0108-4EB4C229E4DA}"/>
              </a:ext>
            </a:extLst>
          </p:cNvPr>
          <p:cNvSpPr txBox="1">
            <a:spLocks/>
          </p:cNvSpPr>
          <p:nvPr/>
        </p:nvSpPr>
        <p:spPr>
          <a:xfrm>
            <a:off x="6002779" y="2948858"/>
            <a:ext cx="4111686" cy="2600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Бэкенд: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FastApi</a:t>
            </a: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(Python)</a:t>
            </a:r>
          </a:p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Фронтенд: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React.js (Ant Design)</a:t>
            </a:r>
          </a:p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Базы данных: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PostgreSQL, Minio</a:t>
            </a:r>
          </a:p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Редактор документа</a:t>
            </a: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OnlyOffice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Прокси</a:t>
            </a: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Nginx</a:t>
            </a:r>
            <a:endParaRPr lang="en-US" sz="2000" b="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ru-RU" sz="2000" b="1" dirty="0">
                <a:latin typeface="Inter" panose="02000503000000020004" pitchFamily="2" charset="0"/>
                <a:ea typeface="Inter" panose="02000503000000020004" pitchFamily="2" charset="0"/>
              </a:rPr>
              <a:t>Сборка: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docker-compose</a:t>
            </a:r>
          </a:p>
          <a:p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CI/CD: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Gitlab CI/CD</a:t>
            </a:r>
          </a:p>
          <a:p>
            <a:endParaRPr lang="ru-R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EC993-0F3C-633B-AF6F-7AD05B87B872}"/>
              </a:ext>
            </a:extLst>
          </p:cNvPr>
          <p:cNvSpPr txBox="1"/>
          <p:nvPr/>
        </p:nvSpPr>
        <p:spPr>
          <a:xfrm>
            <a:off x="6002779" y="1214122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latin typeface="Inter" panose="02000503000000020004" pitchFamily="2" charset="0"/>
                <a:ea typeface="Inter" panose="02000503000000020004" pitchFamily="2" charset="0"/>
              </a:rPr>
              <a:t>Безопасная разработка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b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-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  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Cors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-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политики</a:t>
            </a:r>
          </a:p>
          <a:p>
            <a:pPr marL="285750" indent="-285750" algn="l">
              <a:buFontTx/>
              <a:buChar char="-"/>
            </a:pPr>
            <a:r>
              <a:rPr lang="ru-RU" sz="1800" dirty="0">
                <a:latin typeface="Inter" panose="02000503000000020004" pitchFamily="2" charset="0"/>
                <a:ea typeface="Inter" panose="02000503000000020004" pitchFamily="2" charset="0"/>
              </a:rPr>
              <a:t>Переменные в 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</a:rPr>
              <a:t>env-</a:t>
            </a:r>
            <a:r>
              <a:rPr lang="ru-RU" sz="1800" dirty="0">
                <a:latin typeface="Inter" panose="02000503000000020004" pitchFamily="2" charset="0"/>
                <a:ea typeface="Inter" panose="02000503000000020004" pitchFamily="2" charset="0"/>
              </a:rPr>
              <a:t>файле</a:t>
            </a:r>
          </a:p>
          <a:p>
            <a:pPr marL="285750" indent="-285750" algn="l">
              <a:buFontTx/>
              <a:buChar char="-"/>
            </a:pPr>
            <a:r>
              <a:rPr lang="ru-RU" sz="1800" dirty="0">
                <a:latin typeface="Inter" panose="02000503000000020004" pitchFamily="2" charset="0"/>
                <a:ea typeface="Inter" panose="02000503000000020004" pitchFamily="2" charset="0"/>
              </a:rPr>
              <a:t>Использование современных версий инструментов</a:t>
            </a:r>
            <a:endParaRPr lang="en-US" sz="1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1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7AC729BB-0579-B0F8-7D02-AF70C5703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B8DCB94-F165-CB34-1C48-812939B67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790" y="1137784"/>
            <a:ext cx="4111686" cy="496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4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4677-EED7-1CEE-E72C-617B6B44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722CA7A-04C9-E346-FECC-A824BACF61FE}"/>
              </a:ext>
            </a:extLst>
          </p:cNvPr>
          <p:cNvSpPr txBox="1">
            <a:spLocks/>
          </p:cNvSpPr>
          <p:nvPr/>
        </p:nvSpPr>
        <p:spPr>
          <a:xfrm>
            <a:off x="551542" y="348075"/>
            <a:ext cx="5740615" cy="78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Схема базы данных</a:t>
            </a:r>
          </a:p>
        </p:txBody>
      </p:sp>
      <p:pic>
        <p:nvPicPr>
          <p:cNvPr id="21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7CA62196-B4FF-58D8-7CCD-E7CBDBEF7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C23C49-AD5F-EA54-7E0E-810BB3B16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2" y="1712774"/>
            <a:ext cx="10850748" cy="343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AE0B-1520-43BA-1EE0-B4F92951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5FB4CC2-65ED-B0B6-EC4E-BFF51E578296}"/>
              </a:ext>
            </a:extLst>
          </p:cNvPr>
          <p:cNvSpPr txBox="1">
            <a:spLocks/>
          </p:cNvSpPr>
          <p:nvPr/>
        </p:nvSpPr>
        <p:spPr>
          <a:xfrm>
            <a:off x="551542" y="348075"/>
            <a:ext cx="5740615" cy="78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Тестирование</a:t>
            </a:r>
          </a:p>
        </p:txBody>
      </p:sp>
      <p:pic>
        <p:nvPicPr>
          <p:cNvPr id="21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181362AF-3580-9E82-8E4B-42F8D4A33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Введение в Postman / Хабр">
            <a:extLst>
              <a:ext uri="{FF2B5EF4-FFF2-40B4-BE49-F238E27FC236}">
                <a16:creationId xmlns:a16="http://schemas.microsoft.com/office/drawing/2014/main" id="{44F4E408-7220-26F9-F89B-8699CC3F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42" y="1864102"/>
            <a:ext cx="4753069" cy="189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Tful API Documentation: Swagger | by Suneet Bansal | Medium">
            <a:extLst>
              <a:ext uri="{FF2B5EF4-FFF2-40B4-BE49-F238E27FC236}">
                <a16:creationId xmlns:a16="http://schemas.microsoft.com/office/drawing/2014/main" id="{7A65B7FF-4221-B5F7-63EA-9FD1A1D75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421" y="1297364"/>
            <a:ext cx="4048125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pytest - Wikipedia">
            <a:extLst>
              <a:ext uri="{FF2B5EF4-FFF2-40B4-BE49-F238E27FC236}">
                <a16:creationId xmlns:a16="http://schemas.microsoft.com/office/drawing/2014/main" id="{168D69AE-685C-02E4-C7EA-A9F47CA793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pytest - Wikipedia">
            <a:extLst>
              <a:ext uri="{FF2B5EF4-FFF2-40B4-BE49-F238E27FC236}">
                <a16:creationId xmlns:a16="http://schemas.microsoft.com/office/drawing/2014/main" id="{E4F1DC5C-190E-E990-6BFA-44CD37CE5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032" y="411381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est | Test IT">
            <a:extLst>
              <a:ext uri="{FF2B5EF4-FFF2-40B4-BE49-F238E27FC236}">
                <a16:creationId xmlns:a16="http://schemas.microsoft.com/office/drawing/2014/main" id="{027D4E08-720D-0F32-1187-95069D3D39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33" b="23327"/>
          <a:stretch>
            <a:fillRect/>
          </a:stretch>
        </p:blipFill>
        <p:spPr bwMode="auto">
          <a:xfrm>
            <a:off x="7821221" y="3353305"/>
            <a:ext cx="2875858" cy="152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78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D111-8E7F-4725-C27A-95AEFD62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D468D-674E-93A9-0731-82CFC832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26" y="310804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Стоимость разработки системы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43634-7866-3012-B368-6A04E49D4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/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Для разработки системы потребовались 3 специалиста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два бэкенд разработчика (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Python)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и один фронтенд разработчик (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React)</a:t>
            </a:r>
          </a:p>
          <a:p>
            <a:pPr marL="342900" indent="-342900"/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Для развития системы (например, дописывать новые модули, внедрять интеграции и </a:t>
            </a:r>
            <a:r>
              <a:rPr lang="ru-RU" dirty="0" err="1">
                <a:latin typeface="Inter" panose="02000503000000020004" pitchFamily="2" charset="0"/>
                <a:ea typeface="Inter" panose="02000503000000020004" pitchFamily="2" charset="0"/>
              </a:rPr>
              <a:t>тд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), потребуется бюджет на оплату труда троих разработчиков (200 тыс.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* 3 = 600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тыс. в месяц)</a:t>
            </a:r>
          </a:p>
          <a:p>
            <a:pPr marL="342900" indent="-342900"/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Для поддержки системы потребуется один системный администратор. Примерные расходы на зарплату – 100 тыс. рублей в месяц.</a:t>
            </a:r>
          </a:p>
          <a:p>
            <a:pPr marL="342900" indent="-342900"/>
            <a:r>
              <a:rPr lang="ru-RU" dirty="0"/>
              <a:t>Для поддержания автономности работы необходимо закупить компьютер, на котором будет развернута система (50 тыс.) или ежемесячно оплачивать работу системы в облаке (5 тыс.) </a:t>
            </a:r>
          </a:p>
          <a:p>
            <a:endParaRPr lang="ru-RU" dirty="0"/>
          </a:p>
        </p:txBody>
      </p:sp>
      <p:pic>
        <p:nvPicPr>
          <p:cNvPr id="4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5C644DBA-ABD1-FCB3-2C06-8D10C525D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27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8CF2140-1C12-4C85-B3AF-533C104B3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543" y="688521"/>
            <a:ext cx="5213990" cy="982663"/>
          </a:xfrm>
        </p:spPr>
        <p:txBody>
          <a:bodyPr>
            <a:normAutofit fontScale="90000"/>
          </a:bodyPr>
          <a:lstStyle/>
          <a:p>
            <a:pPr algn="l"/>
            <a:r>
              <a:rPr lang="ru-RU" sz="4400" b="1" dirty="0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Заключение</a:t>
            </a:r>
            <a:br>
              <a:rPr lang="ru-RU" sz="4400" b="1" dirty="0">
                <a:solidFill>
                  <a:srgbClr val="2067C6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ru-RU" sz="4400" b="1" dirty="0">
              <a:solidFill>
                <a:srgbClr val="2067C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7100B36-E538-432D-B80C-C9C30BBFDF9B}"/>
              </a:ext>
            </a:extLst>
          </p:cNvPr>
          <p:cNvSpPr txBox="1">
            <a:spLocks/>
          </p:cNvSpPr>
          <p:nvPr/>
        </p:nvSpPr>
        <p:spPr>
          <a:xfrm>
            <a:off x="551543" y="1350054"/>
            <a:ext cx="4875893" cy="4854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C</a:t>
            </a:r>
            <a:r>
              <a:rPr lang="ru-RU" sz="2000" dirty="0" err="1">
                <a:latin typeface="Inter" panose="02000503000000020004" pitchFamily="2" charset="0"/>
                <a:ea typeface="Inter" panose="02000503000000020004" pitchFamily="2" charset="0"/>
              </a:rPr>
              <a:t>оздана</a:t>
            </a:r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</a:rPr>
              <a:t> полноценная </a:t>
            </a:r>
            <a:r>
              <a:rPr lang="ru-RU" sz="2000" dirty="0" err="1">
                <a:latin typeface="Inter" panose="02000503000000020004" pitchFamily="2" charset="0"/>
                <a:ea typeface="Inter" panose="02000503000000020004" pitchFamily="2" charset="0"/>
              </a:rPr>
              <a:t>энтерпрайз</a:t>
            </a:r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</a:rPr>
              <a:t>-система, способная удовлетворить текущие потребности компании заказчика.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l">
              <a:spcBef>
                <a:spcPts val="600"/>
              </a:spcBef>
            </a:pPr>
            <a:r>
              <a:rPr lang="ru-RU" sz="2000">
                <a:latin typeface="Inter" panose="02000503000000020004" pitchFamily="2" charset="0"/>
                <a:ea typeface="Inter" panose="02000503000000020004" pitchFamily="2" charset="0"/>
              </a:rPr>
              <a:t>Система </a:t>
            </a:r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</a:rPr>
              <a:t>готова к дальнейшему развитию и расширению функциональности в соответствии с будущими потребностями бизнеса.</a:t>
            </a:r>
            <a:endParaRPr lang="ru-RU" sz="20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EF04A603-C0DB-9BCA-0159-5B2C25904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57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DC8E-5B52-5788-6C9A-CBE31ED0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омпания Атомстройэкспорт — о компании, фотографии офиса, контакты — Хабр  Карьера">
            <a:extLst>
              <a:ext uri="{FF2B5EF4-FFF2-40B4-BE49-F238E27FC236}">
                <a16:creationId xmlns:a16="http://schemas.microsoft.com/office/drawing/2014/main" id="{78363845-7A20-0814-D3BA-AC49DA0A5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290" y="0"/>
            <a:ext cx="789709" cy="78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1CD6948-6020-3921-16EA-9C71825FC80C}"/>
              </a:ext>
            </a:extLst>
          </p:cNvPr>
          <p:cNvSpPr txBox="1">
            <a:spLocks/>
          </p:cNvSpPr>
          <p:nvPr/>
        </p:nvSpPr>
        <p:spPr>
          <a:xfrm>
            <a:off x="3641251" y="1413668"/>
            <a:ext cx="5213990" cy="9826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b="1">
                <a:solidFill>
                  <a:schemeClr val="tx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Спасибо за внимание!</a:t>
            </a:r>
            <a:br>
              <a:rPr lang="ru-RU" sz="4400" b="1">
                <a:solidFill>
                  <a:srgbClr val="2067C6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ru-RU" sz="4400" b="1" dirty="0">
              <a:solidFill>
                <a:srgbClr val="2067C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383BF-B529-F4CC-3684-429EE8C36D00}"/>
              </a:ext>
            </a:extLst>
          </p:cNvPr>
          <p:cNvSpPr txBox="1"/>
          <p:nvPr/>
        </p:nvSpPr>
        <p:spPr>
          <a:xfrm>
            <a:off x="2936908" y="3752672"/>
            <a:ext cx="63181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Наша команда</a:t>
            </a:r>
            <a:r>
              <a:rPr lang="en-US" b="1" dirty="0"/>
              <a:t>:</a:t>
            </a:r>
          </a:p>
          <a:p>
            <a:pPr algn="ctr"/>
            <a:r>
              <a:rPr lang="ru-RU" dirty="0"/>
              <a:t>Миронов Андрей</a:t>
            </a:r>
            <a:r>
              <a:rPr lang="en-US" dirty="0"/>
              <a:t>(</a:t>
            </a:r>
            <a:r>
              <a:rPr lang="ru-RU" dirty="0"/>
              <a:t>бэкенд)</a:t>
            </a:r>
          </a:p>
          <a:p>
            <a:pPr algn="ctr"/>
            <a:r>
              <a:rPr lang="ru-RU" dirty="0"/>
              <a:t>Мельников Вадим (алгоритмы)</a:t>
            </a:r>
          </a:p>
          <a:p>
            <a:pPr algn="ctr"/>
            <a:r>
              <a:rPr lang="ru-RU" dirty="0"/>
              <a:t>Коломиец Максим (фронтенд)</a:t>
            </a:r>
          </a:p>
        </p:txBody>
      </p:sp>
      <p:pic>
        <p:nvPicPr>
          <p:cNvPr id="7" name="Рисунок 6" descr="Пузырь с сообщением чата со сплошной заливкой">
            <a:extLst>
              <a:ext uri="{FF2B5EF4-FFF2-40B4-BE49-F238E27FC236}">
                <a16:creationId xmlns:a16="http://schemas.microsoft.com/office/drawing/2014/main" id="{A5827786-9179-4158-EAB6-51D54F3787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5393" y="4584032"/>
            <a:ext cx="914400" cy="914400"/>
          </a:xfrm>
          <a:prstGeom prst="rect">
            <a:avLst/>
          </a:prstGeom>
        </p:spPr>
      </p:pic>
      <p:pic>
        <p:nvPicPr>
          <p:cNvPr id="8" name="Рисунок 7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FB26E8B4-A198-B173-A8A2-280B8E940F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000" y="449580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7C32E3-BB68-EFA5-0FC8-8FC9CA845F32}"/>
              </a:ext>
            </a:extLst>
          </p:cNvPr>
          <p:cNvSpPr txBox="1"/>
          <p:nvPr/>
        </p:nvSpPr>
        <p:spPr>
          <a:xfrm>
            <a:off x="2936908" y="270516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Готовы ответить на Ваши вопросы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24939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305</Words>
  <Application>Microsoft Office PowerPoint</Application>
  <PresentationFormat>Широкоэкранный</PresentationFormat>
  <Paragraphs>35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Inter</vt:lpstr>
      <vt:lpstr>quote-cjk-patch</vt:lpstr>
      <vt:lpstr>Тема Office</vt:lpstr>
      <vt:lpstr>Корпоративная платформа управления документами</vt:lpstr>
      <vt:lpstr>Предпосылки и актуальность</vt:lpstr>
      <vt:lpstr>Цель проекта</vt:lpstr>
      <vt:lpstr>UX/UI</vt:lpstr>
      <vt:lpstr>Презентация PowerPoint</vt:lpstr>
      <vt:lpstr>Презентация PowerPoint</vt:lpstr>
      <vt:lpstr>Презентация PowerPoint</vt:lpstr>
      <vt:lpstr>Стоимость разработки системы</vt:lpstr>
      <vt:lpstr>Заключение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8</cp:revision>
  <dcterms:created xsi:type="dcterms:W3CDTF">2026-04-03T06:50:40Z</dcterms:created>
  <dcterms:modified xsi:type="dcterms:W3CDTF">2026-04-03T14:49:19Z</dcterms:modified>
</cp:coreProperties>
</file>